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Presentation Goal: Convince stakeholders that adopting Aura HRMS immediately consolidates our workforce operations, slashes software sprawl, eliminates travel expense fraud, and delivers a modern mobile experience for all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Walk leadership through the 5 critical pain points. Highlight that our problem is not lack of effort, but tool fragmentation. Replacing this with Aura HRMS saves over ₹14 Lakhs annually in direct leakage and hundreds of productive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Present the 3-pillar ecosystem. Unlike competitors who sell separate modules for mobile app, GPS tracking, and payroll, our platform provides all three in a cohesive, unified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HR Commander dashboard. This is the central nerve center for our HR team, replacing manual morning phone calls and paper attendance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Mobile App! We have a real, fully native React Native mobile app running on iOS and Android. Screen 1 shows Employee Terminal; Screen 2 shows HR Commander on mobile. Employees love the convenience; managers love approving requests on the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how geofenced punch completely replaces biometric hardware machines that cost thousands to maintain, while ensuring staff are physically at the workplace.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this huge competitive advantage: our field tracking uses OpenStreetMap vector tiles. Competitors charge extra or hit you with Google Maps bills. Aura HRMS includes this out-of-the-box.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business trip booking workflow. Employees plan their itineraries; budgets are pre-approved; expenses are tracked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Showcase shift scheduling. Handles complex enterprise roster needs, night shifts, and overtime calculations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payroll capabilities. Our engine eliminates Excel payroll calculations and guarantees full Indian statutory tax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CTC simulator. During appraisal cycles, management can model salary budgets in real time and generate official increment letters with a single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AI Resume Screener. HR teams save dozens of recruiter hours by screening bulk resumes automatically and onboarding shortlisted talent in 1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PMS bridges everyday employee productivity with annual merit increments and organizational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Employee Self-Service experience. Eliminates repetitive HR inquiries about leave balances and payslips.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Assure leadership and IT/Security that employee personal data is completely segregated and encrypted with zero co-mingling across tenants.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IT asset management and helpdesk ticketing. Replaces costly Jira Service Desk or Freshdesk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This table proves our value proposition. We match or exceed enterprise capabilities at a fraction of the cost, without the extortionate add-on fees or lock-ins of Keka and Darwinbox.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Present this slide to the CFO and CEO. For an organization of our size, adopting Aura HRMS pays for itself in less than 30 days while generating over ₹14 Lakhs in net annual operational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Address the 'transition risk' objection. We do not disrupt existing operations. Phase 3 executes a parallel payroll run to verify 100% mathematical consistency before switching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Call to Action: Summarize the decision. The system is ready, the mobile app is built, the ROI is mathematically proven. Ask for approval to begin Phase 1 setup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131D34"/>
          </a:solidFill>
          <a:ln w="1905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3840480" cy="384048"/>
          </a:xfrm>
          <a:prstGeom prst="roundRect">
            <a:avLst/>
          </a:prstGeom>
          <a:solidFill>
            <a:srgbClr val="1E3A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★  EXECUTIVE DECISION &amp; ADOPTION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AURA HRMS ENTERPRISE</a:t>
            </a:r>
          </a:p>
          <a:p>
            <a:pPr>
              <a:spcBef>
                <a:spcPts val="600"/>
              </a:spcBef>
              <a:defRPr sz="2200" b="1">
                <a:solidFill>
                  <a:srgbClr val="3B82F6"/>
                </a:solidFill>
              </a:defRPr>
            </a:pPr>
            <a:r>
              <a:t>The Autonomous Workforce Operating System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Unified Web Commander  •  Native iOS &amp; Android Mobile Suite  •  OpenStreetMap GPS Telemetry  •  Automated Statutory Indian Payroll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480560"/>
            <a:ext cx="228600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NATIVE MOBILE APP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iOS &amp; Android with 1-Tap Geofenced Punch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480560"/>
            <a:ext cx="228600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ZERO MAP COSTS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Pure OpenStreetMap Vector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480560"/>
            <a:ext cx="228600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INDIAN PAYROLL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100% Automated PF, ESI, TDS &amp; 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4480560"/>
            <a:ext cx="228600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MULTI-TENANT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Isolated Dynamic DB per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EXECUTIVE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Why Traditional HR &amp; Operations are Costing Us Millions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Fragmented tools, manual spreadsheets, and unverified field claims drain organizational productivity.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19072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6420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Spreadsheet &amp; Tool Sprawl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HR uses 5+ disconnected tools for attendance, payroll, travel slips, leaves, and emails. Data reconciliation takes days every month.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755648"/>
            <a:ext cx="2560320" cy="438912"/>
          </a:xfrm>
          <a:prstGeom prst="roundRect">
            <a:avLst/>
          </a:prstGeom>
          <a:solidFill>
            <a:srgbClr val="280F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7171"/>
                </a:solidFill>
              </a:defRPr>
            </a:pPr>
            <a:r>
              <a:t>40+ Hours Wasted/Mo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728655" cy="841248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79192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2432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Attendance &amp; Buddy Punching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Traditional biometric machines or manual logbooks fail for hybrid, remote, and field employees, leading to untracked absenteeism.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715768"/>
            <a:ext cx="2560320" cy="438912"/>
          </a:xfrm>
          <a:prstGeom prst="roundRect">
            <a:avLst/>
          </a:prstGeom>
          <a:solidFill>
            <a:srgbClr val="280F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7171"/>
                </a:solidFill>
              </a:defRPr>
            </a:pPr>
            <a:r>
              <a:t>₹3.8L Annual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8655" cy="841248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639312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8444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Opaque Travel &amp; Travel Claims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Field staff submit estimated mileage and paper taxi bills with zero route verification. Impossible to audit authenticity.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675888"/>
            <a:ext cx="2560320" cy="438912"/>
          </a:xfrm>
          <a:prstGeom prst="roundRect">
            <a:avLst/>
          </a:prstGeom>
          <a:solidFill>
            <a:srgbClr val="280F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7171"/>
                </a:solidFill>
              </a:defRPr>
            </a:pPr>
            <a:r>
              <a:t>₹5.4L Fraudulent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728655" cy="841248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99432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4456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Statutory Payroll Calculation Errors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Manual computation of PF, ESI, Professional Tax, TDS slabs, and Loss of Pay leads to compliance notices and penalties.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636008"/>
            <a:ext cx="2560320" cy="438912"/>
          </a:xfrm>
          <a:prstGeom prst="roundRect">
            <a:avLst/>
          </a:prstGeom>
          <a:solidFill>
            <a:srgbClr val="280F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7171"/>
                </a:solidFill>
              </a:defRPr>
            </a:pPr>
            <a:r>
              <a:t>High Compliance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728655" cy="841248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559552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504688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Skyrocketing SaaS Costs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Legacy enterprise solutions (Keka, Darwinbox, Workday) charge heavy per-module fees and lock companies into multi-year contracts.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5596128"/>
            <a:ext cx="2560320" cy="438912"/>
          </a:xfrm>
          <a:prstGeom prst="roundRect">
            <a:avLst/>
          </a:prstGeom>
          <a:solidFill>
            <a:srgbClr val="280F1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7171"/>
                </a:solidFill>
              </a:defRPr>
            </a:pPr>
            <a:r>
              <a:t>Overpriced Subscriptions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One Unified Autonomous Ecosystem: Web + Native Mobile + AI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An integrated architecture eliminating third-party software subscriptions and data silos.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3455" cy="4846320"/>
          </a:xfrm>
          <a:prstGeom prst="roundRect">
            <a:avLst/>
          </a:prstGeom>
          <a:solidFill>
            <a:srgbClr val="131D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8FAFC"/>
                </a:solidFill>
              </a:defRPr>
            </a:pPr>
            <a:r>
              <a:t>1. Web Commander Portal</a:t>
            </a:r>
          </a:p>
          <a:p>
            <a:pPr>
              <a:spcBef>
                <a:spcPts val="200"/>
              </a:spcBef>
              <a:defRPr sz="1100" b="1">
                <a:solidFill>
                  <a:srgbClr val="3B82F6"/>
                </a:solidFill>
              </a:defRPr>
            </a:pPr>
            <a:r>
              <a:t>Full Administrative Terminal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Executive Workforce Live Telemetry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Automated Indian Statutory Payroll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Geofence Polygon Configuration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IT Asset &amp; SLA Helpdesk Suite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Role-Based Access (Admin/HR/Dept)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13455" cy="4846320"/>
          </a:xfrm>
          <a:prstGeom prst="roundRect">
            <a:avLst/>
          </a:prstGeom>
          <a:solidFill>
            <a:srgbClr val="131D3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8FAFC"/>
                </a:solidFill>
              </a:defRPr>
            </a:pPr>
            <a:r>
              <a:t>2. Native Mobile Suite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iOS &amp; Android (React Native)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1-Tap Geofenced OpenStreetMap Punch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Real-Time Field Trip &amp; Route Tracing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Digital Employee ID Card Badge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Instant Leave &amp; Expense Claim Filing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Manager Mobile Approvals on-the-go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13455" cy="4846320"/>
          </a:xfrm>
          <a:prstGeom prst="roundRect">
            <a:avLst/>
          </a:prstGeom>
          <a:solidFill>
            <a:srgbClr val="131D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F8FAFC"/>
                </a:solidFill>
              </a:defRPr>
            </a:pPr>
            <a:r>
              <a:t>3. Autonomous AI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Machine Intelligence &amp; RAG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AI Resume Screener &amp; Fit Scoring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Candidate Skills Taxonomy Extraction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1-Click Candidate to Employee Onboarding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Departmental AI Workspaces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✔  DPDP Act 2023 Isolated DB Multi-Tenancy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EXECUTIVE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Real-Time Workforce Radar &amp; Operational Pulse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 single-pane-of-glass executive console giving HR managers instant workforce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Live Workforce Telemetry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Monitor today's total present headcount, active rotational shifts, checked-out employees, and absenteeism in real time.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One-Click Action Center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Instant access to employee onboarding, document compliance, leave approvals, salary simulations, and branch settings.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Integrated Search &amp; Direct Routing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Search employees, departments, or shifts instantly with role-based administrative safeguards.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Real-Time Feed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ATTENDANCE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100% Accurate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HEADCOUNT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hr_control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NATIVE MOBILE SUITE (IOS &amp; ANDROID)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Empowering Every Employee &amp; Manager In Their Pocket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 high-performance React Native mobile app available on both iOS and Android platforms.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937760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8FAFC"/>
                </a:solidFill>
              </a:defRPr>
            </a:pPr>
            <a:r>
              <a:t>★  Dual-Persona Architecture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Single mobile app switches seamlessly between Employee Self-Service and HR Commander terminal based on user permissions.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★  1-Tap Attendance Punch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Employees clock in with GPS coordinates. Validates office geofence before marking attendance.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★  Real-Time KPI Metric Cards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View monthly attendance rate, days present, approved leaves, and working days on dynamic cards.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★  On-The-Go Approvals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Managers can approve leaves, review expense receipts, and verify travel requests directly from their phone in seconds.</a:t>
            </a:r>
          </a:p>
          <a:p>
            <a:pPr>
              <a:spcBef>
                <a:spcPts val="800"/>
              </a:spcBef>
              <a:defRPr b="1" sz="1200">
                <a:solidFill>
                  <a:srgbClr val="F8FAFC"/>
                </a:solidFill>
              </a:defRPr>
            </a:pPr>
            <a:r>
              <a:t>★  Digital ID &amp; Payslip Viewer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Access digital ID badge with QR credentials and view complete monthly payslip breakdowns anytime.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7609" y="1426464"/>
            <a:ext cx="2495021" cy="5010912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employee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185" y="1463040"/>
            <a:ext cx="2421869" cy="4937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11975" y="1426464"/>
            <a:ext cx="2509968" cy="5010912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_hr_comma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551" y="1463040"/>
            <a:ext cx="243681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MOBILE ATTENDANCE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Geofenced Clock-In: Eliminate Buddy-Punching Permanently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Employees can only punch in when physically present within authorized office coordinates.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High-Precision GPS Boundary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Configurable office radius (50m, 100m, 250m) rendered on interactive OpenStreetMap vector circles.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Anti-Spoofing &amp; Mock Location Guard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Built-in hardware location checks detect and reject GPS mockers, VPN tunnels, and spoofed coordinates.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Zero Biometric Hardware Costs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Eliminates physical fingerprint scanners that break down and require annual vendor maintenance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100% Eliminated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BUDDY PUNCHING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₹0 Machine Cost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HARDWARE CAPEX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2_attendance_geofence_pu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FIELD MOBILITY &amp;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GPS Fleet Telemetry &amp; Breadcrumb Route Auditing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Track sales visits, site inspections, and executive business trips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Breadcrumb Route Tracing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Record live transit checkpoints with timestamped GPS coordinates, stop durations, and total odometer distance.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Zero Google Maps API Surcharges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Built on pure OpenStreetMap vector tiles, saving thousands of dollars in proprietary Google Maps billing.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Automated Mileage Expense Calculation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System automatically calculates verified travel reimbursement based on actual GPS kilometers traversed.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100% Verified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TRAVEL CLAIMS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₹0 Surcharge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MAP API TAX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trip_route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TRAVEL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Business Travel Requisitions &amp; Budget Controls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Structured multi-city itinerary creation with per-diem allowance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Multi-City Travel Wizard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Captures origin, destination, business objectives, transit modes (flight, rail, cab), and planned itinerary dates.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Daily Allowance &amp; Lodging Estimation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Automatically calculates per-diem allowances, hotel lodging ceilings, and client hospitality budgets.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Multi-Tier Manager Approval Routing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Managers review proposed budget, route, and rationale before release of travel advances.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Policy-Controlled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TRAVEL ADVANCES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&lt; 4 Hours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APPROVAL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8_business_trip_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WORKFORCE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Flexible Shift Scheduling &amp; Rotational Roster Management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Easily manage General, Morning, Evening, and Night shifts across multi-branch teams.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Custom Shift Configurations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Define shift start/end times, lunch duration, minimum half-day hours, and full-day work thresholds.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Grace Period &amp; Early Departure Rules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Automated late-coming thresholds with grace minutes (e.g. 15 mins) before Loss of Pay triggers.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Overtime Multiplier Logic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Configurable standard and holiday overtime multipliers (1.5x, 2.0x) fed directly into the payroll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24/7 Rotational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SHIFT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Automated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OVERTIME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_company_settings_shif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PAYROLL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Autonomous Indian Statutory Payroll &amp; 1-Click Disbursals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Full statutory compliance with automated computation of PF, ESI, PT, TDS, and Loss of Pay.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100% Indian Statutory Compliance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Automated calculation of Employee PF (12%), Employer PF (12%), ESI, State Professional Tax, and Income Tax TDS.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Automated Loss of Pay (LOP) Sync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Attendance logs, unapproved leaves, and half-days automatically compute accurate prorated deductions.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Bank Disbursal Export &amp; Branded Payslips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Generate standard bank NEFT/RTGS disbursal CSVs and publish password-protected PDF payslips instantly.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&lt; 15 Minutes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PAYROLL RUN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Zero Risk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COMPLIANCE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payroll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COMPENSATION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Interactive CTC Hike Simulator &amp; Branded Increment Letters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Model salary revisions with real-time budget forecasting and automated letter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Real-Time 'What-If' CTC Simulator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Slide percentage increments (e.g. 8%, 12%, 18%) and instantly see revised Basic Pay, HRA, and employer liabilities.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Promotion &amp; Designation Alignment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Seamlessly upgrade employee job levels, bands, and departmental designations alongside salary revisions.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1-Click PDF Increment Letters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Instantly produce professionally formatted, branded compensation revision letters ready for executive sign-off.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Instant Math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HIKE MODELING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1-Click PDF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LETTER 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6_compensation_re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AI TALENT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AI Resume Screener &amp; Candidate Scrutiny Engine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Screen hundreds of candidate resumes in minutes with AI weighted skill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Bulk Drag-and-Drop Resume Parsing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Upload up to 20 candidate resumes (PDF/DOCX) simultaneously or paste raw CV text for instant NLP analysis.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Scientific Multi-Factor Fit Score (0-100%)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Evaluates candidate Skill Coverage (40%), Domain Experience (25%), and Academic Credentials (15%).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1-Click Employee Onboarding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Instantly convert high-scoring candidates into active employee accounts with auto-generated credentials.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10x Faster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SCREENING SPEED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STRONG_HIRE Tag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7_ai_talent_acqui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PERFORMANCE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360° Appraisal Framework &amp; Continuous OKR Tracking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Align individual employee goals with departmental OKRs and company revenue targets.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Multi-Tier Performance Evaluation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Self-appraisals, reporting manager ratings, and peer reviews compiled into a comprehensive merit score.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Quantitative &amp; Qualitative Metrics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Track revenue milestones, project delivery SLAs, leadership competencies, and behavioral feedback.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Historical Merit Dossier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Maintain multi-year appraisal scorecards to support data-driven promotion and retention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Paperless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APPRAISAL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Objective Data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MERIT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_performance_apprai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EMPLOYEE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Modern Employee Self-Service (ESS) &amp; Digital Workplace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A consumer-grade portal where employees manage leaves, payslips, and daily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Transparent Salary Breakdown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Employees view detailed payslips with earnings, tax deductions, and download signed PDF salary slips.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Frictionless Leave &amp; Absence Requests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Check real-time leave quotas (Casual, Sick, Earned) and submit leave applications with 1 click.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Company Broadcast Notice Board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Receive organization-wide announcements, policy updates, holiday calendars, and executive townhall notices.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-65% Queries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HR TICKET REDUCTION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4.9/5 Rating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SATISFACTION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0_employee_self_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Bank-Grade Security: Dynamic Database Isolation per Tenant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Engineered for stringent enterprise security standards and India's DPDP Act 2023.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Dynamic Tenant Database Isolation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Each company's records are housed in an isolated MongoDB database (HRMS_&lt;tenantId&gt;), guaranteeing zero data leakage.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Encrypted Digital Document Vault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Encrypted storage for Aadhaar, PAN, educational credentials, NDAs, and employment contracts.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Role-Based Access Control (RBAC)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Strict privilege tiers separating Super-Admin, HR Manager, Department Head, and Employee permissions.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100% Dedicated DB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DATA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DPDP Act 2023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6_secure_document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IT OPERATIONS &amp; HELPDESK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Integrated IT Asset Tracking &amp; Multi-Department Helpdesk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Prevent hardware asset loss and streamline internal employee service requests.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389120" cy="4937760"/>
          </a:xfrm>
          <a:prstGeom prst="roundRect">
            <a:avLst/>
          </a:prstGeom>
          <a:solidFill>
            <a:srgbClr val="131D34"/>
          </a:solidFill>
          <a:ln w="12700"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023360" cy="4572000"/>
          </a:xfrm>
          <a:prstGeom prst="rect">
            <a:avLst/>
          </a:prstGeom>
          <a:noFill/>
        </p:spPr>
        <p:txBody>
          <a:bodyPr wrap="square" tIns="0" lIns="0" rIns="0" bIns="0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Hardware Inventory &amp; Custodian Logs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Track laptops, monitors, mobile devices, serial numbers, warranty dates, and custodian handovers.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Multi-Department SLA Ticketing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Unified helpdesk routing tickets to IT, HR, Finance, or Admin with priority triage and resolution SLAs.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  <a:latin typeface="Arial"/>
              </a:defRPr>
            </a:pPr>
            <a:r>
              <a:t>✔  Offboarding Asset Recovery Checklist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Automated asset recovery workflow during employee offboarding before releasing final settlement.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100% Accounted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ASSET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5349240"/>
            <a:ext cx="2057400" cy="777240"/>
          </a:xfrm>
          <a:prstGeom prst="roundRect">
            <a:avLst/>
          </a:prstGeom>
          <a:solidFill>
            <a:srgbClr val="0C132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Avg &lt; 24 Hours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TICKET SLA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58384" y="1932929"/>
            <a:ext cx="6108192" cy="3997980"/>
          </a:xfrm>
          <a:prstGeom prst="roundRect">
            <a:avLst/>
          </a:prstGeom>
          <a:solidFill>
            <a:srgbClr val="2D4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4_it_asset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69505"/>
            <a:ext cx="6035040" cy="3924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MARKET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How Aura HRMS Outperforms Legacy Enterprise Alternatives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Side-by-side capability and cost matrix against Keka, Darwinbox, and Workday.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1920240"/>
                <a:gridCol w="1920240"/>
                <a:gridCol w="1858975"/>
              </a:tblGrid>
              <a:tr h="666205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Capability / Requirement</a:t>
                      </a:r>
                    </a:p>
                  </a:txBody>
                  <a:tcPr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AURA HRMS (Ours)</a:t>
                      </a:r>
                    </a:p>
                  </a:txBody>
                  <a:tcPr>
                    <a:solidFill>
                      <a:srgbClr val="14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Keka HR</a:t>
                      </a:r>
                    </a:p>
                  </a:txBody>
                  <a:tcPr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Darwinbox</a:t>
                      </a:r>
                    </a:p>
                  </a:txBody>
                  <a:tcPr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Workday</a:t>
                      </a:r>
                    </a:p>
                  </a:txBody>
                  <a:tcPr>
                    <a:solidFill>
                      <a:srgbClr val="1E2D50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Native iOS &amp; Android Mobile Suite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✔ Built-in (Dual Persona)</a:t>
                      </a:r>
                    </a:p>
                  </a:txBody>
                  <a:tcPr>
                    <a:solidFill>
                      <a:srgbClr val="10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✔ Included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✔ Included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✔ Included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Live OpenStreetMap GPS Tracking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✔ 100% Free ($0 API Tax)</a:t>
                      </a:r>
                    </a:p>
                  </a:txBody>
                  <a:tcPr>
                    <a:solidFill>
                      <a:srgbClr val="10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❌ Not Available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⚠ Expensive Add-on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❌ Not Available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Indian Statutory Payroll (PF/ESI/TDS)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✔ Fully Automated</a:t>
                      </a:r>
                    </a:p>
                  </a:txBody>
                  <a:tcPr>
                    <a:solidFill>
                      <a:srgbClr val="10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✔ Included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✔ Complex Setup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⚠ High Customization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AI Resume Screener &amp; Fit 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✔ Integrated Engine</a:t>
                      </a:r>
                    </a:p>
                  </a:txBody>
                  <a:tcPr>
                    <a:solidFill>
                      <a:srgbClr val="10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❌ Third-Party Add-on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⚠ Enterprise Add-on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⚠ High Enterprise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Database Multi-Tenancy Architecture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✔ Dynamic Isolated DB</a:t>
                      </a:r>
                    </a:p>
                  </a:txBody>
                  <a:tcPr>
                    <a:solidFill>
                      <a:srgbClr val="10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❌ Shared Schema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❌ Shared Cluster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⚠ Shared Cloud</a:t>
                      </a:r>
                    </a:p>
                  </a:txBody>
                  <a:tcPr>
                    <a:solidFill>
                      <a:srgbClr val="131D34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Estimated Annual Cost (150 Staff)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₹75,000 / year total</a:t>
                      </a:r>
                    </a:p>
                  </a:txBody>
                  <a:tcPr>
                    <a:solidFill>
                      <a:srgbClr val="1028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₹2,16,000 /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₹3,80,000 /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Arial"/>
                        </a:defRPr>
                      </a:pPr>
                      <a:r>
                        <a:t>$25,000+ USD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Quantifiable Financial Return on Investment: ₹14.5L+ Annual Savings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Measurable reduction in administrative overhead, timecard fraud, and vendor subscription fees.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2148840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94A3B8"/>
                </a:solidFill>
              </a:defRPr>
            </a:pPr>
            <a:r>
              <a:t>ELIMINATE TRAVEL FRAUD</a:t>
            </a:r>
          </a:p>
          <a:p>
            <a:pPr>
              <a:spcBef>
                <a:spcPts val="400"/>
              </a:spcBef>
              <a:defRPr b="1" sz="2400">
                <a:solidFill>
                  <a:srgbClr val="10B981"/>
                </a:solidFill>
              </a:defRPr>
            </a:pPr>
            <a:r>
              <a:t>₹5.4 Lakhs / yr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Live GPS route tracking and OpenStreetMap odometer telemetry prevent inflated taxi and mileage claims permanently.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57800" cy="2148840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94A3B8"/>
                </a:solidFill>
              </a:defRPr>
            </a:pPr>
            <a:r>
              <a:t>STOP BUDDY-PUNCHING</a:t>
            </a:r>
          </a:p>
          <a:p>
            <a:pPr>
              <a:spcBef>
                <a:spcPts val="400"/>
              </a:spcBef>
              <a:defRPr b="1" sz="2400">
                <a:solidFill>
                  <a:srgbClr val="06B6D4"/>
                </a:solidFill>
              </a:defRPr>
            </a:pPr>
            <a:r>
              <a:t>₹3.8 Lakhs / yr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Geofenced radar validation eliminates unverified check-ins, false overtime claims, and manual register tampering.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48840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94A3B8"/>
                </a:solidFill>
              </a:defRPr>
            </a:pPr>
            <a:r>
              <a:t>CONSOLIDATE SOFTWARE</a:t>
            </a:r>
          </a:p>
          <a:p>
            <a:pPr>
              <a:spcBef>
                <a:spcPts val="400"/>
              </a:spcBef>
              <a:defRPr b="1" sz="2400">
                <a:solidFill>
                  <a:srgbClr val="3B82F6"/>
                </a:solidFill>
              </a:defRPr>
            </a:pPr>
            <a:r>
              <a:t>₹3.2 Lakhs / yr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Replace separate subscriptions for ticketing, GPS tracking, notice boards, and HR software into one unified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48840"/>
          </a:xfrm>
          <a:prstGeom prst="roundRect">
            <a:avLst/>
          </a:prstGeom>
          <a:solidFill>
            <a:srgbClr val="131D34"/>
          </a:solidFill>
          <a:ln>
            <a:solidFill>
              <a:srgbClr val="2D4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94A3B8"/>
                </a:solidFill>
              </a:defRPr>
            </a:pPr>
            <a:r>
              <a:t>REDUCE HR ADMIN HOURS</a:t>
            </a:r>
          </a:p>
          <a:p>
            <a:pPr>
              <a:spcBef>
                <a:spcPts val="400"/>
              </a:spcBef>
              <a:defRPr b="1" sz="2400">
                <a:solidFill>
                  <a:srgbClr val="F59E0B"/>
                </a:solidFill>
              </a:defRPr>
            </a:pPr>
            <a:r>
              <a:t>₹2.1 Lakhs / yr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Save 40+ HR hours per month on manual payroll reconciliation, paper leave forms, and employee inquiry emails.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●  ROLLOUT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Frictionless 30-Day Implementation &amp; Zero-Downtime Migration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Structured 3-phase deployment ensuring continuous payroll continuity and smooth employee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3455" cy="4846320"/>
          </a:xfrm>
          <a:prstGeom prst="roundRect">
            <a:avLst/>
          </a:prstGeom>
          <a:solidFill>
            <a:srgbClr val="131D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Phase 1: Setup &amp; Policy (Days 1–5)</a:t>
            </a:r>
          </a:p>
          <a:p>
            <a:pPr>
              <a:spcBef>
                <a:spcPts val="200"/>
              </a:spcBef>
              <a:defRPr sz="1100" b="1">
                <a:solidFill>
                  <a:srgbClr val="3B82F6"/>
                </a:solidFill>
              </a:defRPr>
            </a:pPr>
            <a:r>
              <a:t>Provisioning &amp; Rules Setup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Dynamic Tenant Database Provisioning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Configure Office Geofence Coordinates &amp; Radius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Set up Company Shifts, Rosters &amp; Overtime Rules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Configure Indian Statutory Tax Slabs (PF/ESI/PT)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13455" cy="4846320"/>
          </a:xfrm>
          <a:prstGeom prst="roundRect">
            <a:avLst/>
          </a:prstGeom>
          <a:solidFill>
            <a:srgbClr val="131D3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73736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Phase 2: Migration &amp; Mobile (Days 6–15)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Data &amp; Mobile Rollout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Bulk CSV Import of Employee Records &amp; CTC Structures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Distribute Native Mobile App (iOS / Android APK)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Conduct 30-Minute Department Manager Training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Test Geofenced Attendance &amp; Field Trip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413455" cy="4846320"/>
          </a:xfrm>
          <a:prstGeom prst="roundRect">
            <a:avLst/>
          </a:prstGeom>
          <a:solidFill>
            <a:srgbClr val="131D3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Phase 3: Parallel Run &amp; Launch (Days 16–30)</a:t>
            </a:r>
          </a:p>
          <a:p>
            <a:pPr>
              <a:spcBef>
                <a:spcPts val="200"/>
              </a:spcBef>
              <a:defRPr sz="1100" b="1">
                <a:solidFill>
                  <a:srgbClr val="10B981"/>
                </a:solidFill>
              </a:defRPr>
            </a:pPr>
            <a:r>
              <a:t>Full Production Go-Live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Execute Parallel Payroll Run with Historical Data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Verify Exact PF, ESI, TDS, and Net Pay Consistency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Switch Off Legacy Paper / Spreadsheet Systems</a:t>
            </a:r>
          </a:p>
          <a:p>
            <a:pPr>
              <a:spcBef>
                <a:spcPts val="1200"/>
              </a:spcBef>
              <a:defRPr sz="1050">
                <a:solidFill>
                  <a:srgbClr val="94A3B8"/>
                </a:solidFill>
              </a:defRPr>
            </a:pPr>
            <a:r>
              <a:t>✔  Full Company-Wide Production Launch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131D3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6B6D4"/>
                </a:solidFill>
              </a:defRPr>
            </a:pPr>
            <a:r>
              <a:t>EXECUTIVE RECOMMENDATION</a:t>
            </a:r>
          </a:p>
          <a:p>
            <a:pPr>
              <a:spcBef>
                <a:spcPts val="800"/>
              </a:spcBef>
              <a:defRPr b="1" sz="3000">
                <a:solidFill>
                  <a:srgbClr val="F8FAFC"/>
                </a:solidFill>
              </a:defRPr>
            </a:pPr>
            <a:r>
              <a:t>Approve Immediate Deployment of Aura HRMS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Everything is built, verified, and operational. Adopting this unified suite secures our workforce data, slashes administrative costs, and arms our teams with a modern mobile app.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★  Zero Setup Risk: Our workspace and multi-tenant isolated database are ready to provision in under 5 minutes.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★  Immediate Cost Savings: Consolidate 4+ vendor bills immediately, saving ₹14.5L+ annually.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★  Mobile App Ready: Employees download the iOS/Android app on Day 1 with zero IT friction.</a:t>
            </a:r>
          </a:p>
          <a:p>
            <a:pPr>
              <a:spcBef>
                <a:spcPts val="1200"/>
              </a:spcBef>
              <a:defRPr sz="1200" b="1">
                <a:solidFill>
                  <a:srgbClr val="10B981"/>
                </a:solidFill>
              </a:defRPr>
            </a:pPr>
            <a:r>
              <a:t>★  Full Statutory Safety: Automated Indian payroll eliminates compliance fines and audit anxiety.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